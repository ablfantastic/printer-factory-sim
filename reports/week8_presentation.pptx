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1463040"/>
            <a:ext cx="10698480" cy="1097280"/>
          </a:xfrm>
          <a:prstGeom prst="rect">
            <a:avLst/>
          </a:prstGeom>
          <a:noFill/>
        </p:spPr>
        <p:txBody>
          <a:bodyPr wrap="square">
            <a:spAutoFit/>
          </a:bodyPr>
          <a:lstStyle/>
          <a:p>
            <a:pPr algn="ctr"/>
            <a:r>
              <a:rPr sz="4200" b="1" i="0">
                <a:solidFill>
                  <a:srgbClr val="E6EDF3"/>
                </a:solidFill>
              </a:rPr>
              <a:t>Autonomous 3D Printer Supply Chain</a:t>
            </a:r>
          </a:p>
        </p:txBody>
      </p:sp>
      <p:sp>
        <p:nvSpPr>
          <p:cNvPr id="3" name="TextBox 2"/>
          <p:cNvSpPr txBox="1"/>
          <p:nvPr/>
        </p:nvSpPr>
        <p:spPr>
          <a:xfrm>
            <a:off x="731520" y="2651760"/>
            <a:ext cx="10698480" cy="548640"/>
          </a:xfrm>
          <a:prstGeom prst="rect">
            <a:avLst/>
          </a:prstGeom>
          <a:noFill/>
        </p:spPr>
        <p:txBody>
          <a:bodyPr wrap="square">
            <a:spAutoFit/>
          </a:bodyPr>
          <a:lstStyle/>
          <a:p>
            <a:pPr algn="ctr"/>
            <a:r>
              <a:rPr sz="2000" b="0" i="1">
                <a:solidFill>
                  <a:srgbClr val="7D8B97"/>
                </a:solidFill>
              </a:rPr>
              <a:t>Three independent agents managing a volatile market</a:t>
            </a:r>
          </a:p>
        </p:txBody>
      </p:sp>
      <p:sp>
        <p:nvSpPr>
          <p:cNvPr id="4" name="Rectangle 3"/>
          <p:cNvSpPr/>
          <p:nvPr/>
        </p:nvSpPr>
        <p:spPr>
          <a:xfrm>
            <a:off x="914400" y="3520440"/>
            <a:ext cx="2743200" cy="777240"/>
          </a:xfrm>
          <a:prstGeom prst="rect">
            <a:avLst/>
          </a:prstGeom>
          <a:solidFill>
            <a:srgbClr val="161B22"/>
          </a:solidFill>
          <a:ln w="1524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FB950"/>
                </a:solidFill>
              </a:rPr>
              <a:t>Provider</a:t>
            </a:r>
          </a:p>
        </p:txBody>
      </p:sp>
      <p:sp>
        <p:nvSpPr>
          <p:cNvPr id="5" name="Rectangle 4"/>
          <p:cNvSpPr/>
          <p:nvPr/>
        </p:nvSpPr>
        <p:spPr>
          <a:xfrm>
            <a:off x="4663440" y="3520440"/>
            <a:ext cx="2743200" cy="777240"/>
          </a:xfrm>
          <a:prstGeom prst="rect">
            <a:avLst/>
          </a:prstGeom>
          <a:solidFill>
            <a:srgbClr val="161B22"/>
          </a:solidFill>
          <a:ln w="1524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58A6FF"/>
                </a:solidFill>
              </a:rPr>
              <a:t>Manufacturer</a:t>
            </a:r>
          </a:p>
        </p:txBody>
      </p:sp>
      <p:sp>
        <p:nvSpPr>
          <p:cNvPr id="6" name="Rectangle 5"/>
          <p:cNvSpPr/>
          <p:nvPr/>
        </p:nvSpPr>
        <p:spPr>
          <a:xfrm>
            <a:off x="8412480" y="3520440"/>
            <a:ext cx="2743200" cy="777240"/>
          </a:xfrm>
          <a:prstGeom prst="rect">
            <a:avLst/>
          </a:prstGeom>
          <a:solidFill>
            <a:srgbClr val="161B22"/>
          </a:solidFill>
          <a:ln w="15240">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7B72"/>
                </a:solidFill>
              </a:rPr>
              <a:t>Retailer</a:t>
            </a:r>
          </a:p>
        </p:txBody>
      </p:sp>
      <p:sp>
        <p:nvSpPr>
          <p:cNvPr id="7" name="TextBox 6"/>
          <p:cNvSpPr txBox="1"/>
          <p:nvPr/>
        </p:nvSpPr>
        <p:spPr>
          <a:xfrm>
            <a:off x="731520" y="4754880"/>
            <a:ext cx="10698480" cy="457200"/>
          </a:xfrm>
          <a:prstGeom prst="rect">
            <a:avLst/>
          </a:prstGeom>
          <a:noFill/>
        </p:spPr>
        <p:txBody>
          <a:bodyPr wrap="square">
            <a:spAutoFit/>
          </a:bodyPr>
          <a:lstStyle/>
          <a:p>
            <a:pPr algn="ctr"/>
            <a:r>
              <a:rPr sz="1500" b="0" i="1">
                <a:solidFill>
                  <a:srgbClr val="7D8B97"/>
                </a:solidFill>
              </a:rPr>
              <a:t>Demo scenario: holiday-rush</a:t>
            </a:r>
          </a:p>
        </p:txBody>
      </p:sp>
      <p:sp>
        <p:nvSpPr>
          <p:cNvPr id="8" name="TextBox 7"/>
          <p:cNvSpPr txBox="1"/>
          <p:nvPr/>
        </p:nvSpPr>
        <p:spPr>
          <a:xfrm>
            <a:off x="731520" y="6035040"/>
            <a:ext cx="10698480" cy="411480"/>
          </a:xfrm>
          <a:prstGeom prst="rect">
            <a:avLst/>
          </a:prstGeom>
          <a:noFill/>
        </p:spPr>
        <p:txBody>
          <a:bodyPr wrap="square">
            <a:spAutoFit/>
          </a:bodyPr>
          <a:lstStyle/>
          <a:p>
            <a:pPr algn="ctr"/>
            <a:r>
              <a:rPr sz="1300" b="0" i="0">
                <a:solidFill>
                  <a:srgbClr val="7D8B97"/>
                </a:solidFill>
              </a:rPr>
              <a:t>DGSI · Week 8 · Autonomous Supply Chain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System Overview</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20040" y="2743200"/>
            <a:ext cx="1965960" cy="1188720"/>
          </a:xfrm>
          <a:prstGeom prst="rect">
            <a:avLst/>
          </a:prstGeom>
          <a:solidFill>
            <a:srgbClr val="161B22"/>
          </a:solidFill>
          <a:ln w="15240">
            <a:solidFill>
              <a:srgbClr val="7D8B97"/>
            </a:solidFill>
          </a:ln>
        </p:spPr>
        <p:style>
          <a:lnRef idx="1">
            <a:schemeClr val="accent1"/>
          </a:lnRef>
          <a:fillRef idx="3">
            <a:schemeClr val="accent1"/>
          </a:fillRef>
          <a:effectRef idx="2">
            <a:schemeClr val="accent1"/>
          </a:effectRef>
          <a:fontRef idx="minor">
            <a:schemeClr val="lt1"/>
          </a:fontRef>
        </p:style>
        <p:txBody>
          <a:bodyPr rtlCol="0" anchor="ctr" lIns="73152" tIns="73152"/>
          <a:lstStyle/>
          <a:p>
            <a:pPr algn="ctr"/>
            <a:r>
              <a:rPr sz="1300" b="1">
                <a:solidFill>
                  <a:srgbClr val="7D8B97"/>
                </a:solidFill>
              </a:rPr>
              <a:t>Customers</a:t>
            </a:r>
          </a:p>
        </p:txBody>
      </p:sp>
      <p:sp>
        <p:nvSpPr>
          <p:cNvPr id="5" name="Rectangle 4"/>
          <p:cNvSpPr/>
          <p:nvPr/>
        </p:nvSpPr>
        <p:spPr>
          <a:xfrm>
            <a:off x="2423160" y="2377440"/>
            <a:ext cx="1965960" cy="1188720"/>
          </a:xfrm>
          <a:prstGeom prst="rect">
            <a:avLst/>
          </a:prstGeom>
          <a:solidFill>
            <a:srgbClr val="161B22"/>
          </a:solidFill>
          <a:ln w="15240">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lIns="73152" tIns="73152"/>
          <a:lstStyle/>
          <a:p>
            <a:pPr algn="ctr"/>
            <a:r>
              <a:rPr sz="1300" b="1">
                <a:solidFill>
                  <a:srgbClr val="FF7B72"/>
                </a:solidFill>
              </a:rPr>
              <a:t>Retailer
PrinterWorld
:8003</a:t>
            </a:r>
          </a:p>
        </p:txBody>
      </p:sp>
      <p:sp>
        <p:nvSpPr>
          <p:cNvPr id="6" name="Rectangle 5"/>
          <p:cNvSpPr/>
          <p:nvPr/>
        </p:nvSpPr>
        <p:spPr>
          <a:xfrm>
            <a:off x="4892040" y="2377440"/>
            <a:ext cx="1965960" cy="1188720"/>
          </a:xfrm>
          <a:prstGeom prst="rect">
            <a:avLst/>
          </a:prstGeom>
          <a:solidFill>
            <a:srgbClr val="161B22"/>
          </a:solidFill>
          <a:ln w="1524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lIns="73152" tIns="73152"/>
          <a:lstStyle/>
          <a:p>
            <a:pPr algn="ctr"/>
            <a:r>
              <a:rPr sz="1300" b="1">
                <a:solidFill>
                  <a:srgbClr val="58A6FF"/>
                </a:solidFill>
              </a:rPr>
              <a:t>Manufacturer
Factory
:8002</a:t>
            </a:r>
          </a:p>
        </p:txBody>
      </p:sp>
      <p:sp>
        <p:nvSpPr>
          <p:cNvPr id="7" name="Rectangle 6"/>
          <p:cNvSpPr/>
          <p:nvPr/>
        </p:nvSpPr>
        <p:spPr>
          <a:xfrm>
            <a:off x="7360920" y="2377440"/>
            <a:ext cx="1965960" cy="1188720"/>
          </a:xfrm>
          <a:prstGeom prst="rect">
            <a:avLst/>
          </a:prstGeom>
          <a:solidFill>
            <a:srgbClr val="161B22"/>
          </a:solidFill>
          <a:ln w="1524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lIns="73152" tIns="73152"/>
          <a:lstStyle/>
          <a:p>
            <a:pPr algn="ctr"/>
            <a:r>
              <a:rPr sz="1300" b="1">
                <a:solidFill>
                  <a:srgbClr val="3FB950"/>
                </a:solidFill>
              </a:rPr>
              <a:t>Provider
ChipSupply Co
:8001</a:t>
            </a:r>
          </a:p>
        </p:txBody>
      </p:sp>
      <p:sp>
        <p:nvSpPr>
          <p:cNvPr id="8" name="TextBox 7"/>
          <p:cNvSpPr txBox="1"/>
          <p:nvPr/>
        </p:nvSpPr>
        <p:spPr>
          <a:xfrm>
            <a:off x="1920240" y="2834640"/>
            <a:ext cx="731520" cy="365760"/>
          </a:xfrm>
          <a:prstGeom prst="rect">
            <a:avLst/>
          </a:prstGeom>
          <a:noFill/>
        </p:spPr>
        <p:txBody>
          <a:bodyPr wrap="square">
            <a:spAutoFit/>
          </a:bodyPr>
          <a:lstStyle/>
          <a:p>
            <a:pPr algn="ctr"/>
            <a:r>
              <a:rPr sz="1100" b="0" i="0">
                <a:solidFill>
                  <a:srgbClr val="7D8B97"/>
                </a:solidFill>
              </a:rPr>
              <a:t>orders →</a:t>
            </a:r>
          </a:p>
        </p:txBody>
      </p:sp>
      <p:sp>
        <p:nvSpPr>
          <p:cNvPr id="9" name="TextBox 8"/>
          <p:cNvSpPr txBox="1"/>
          <p:nvPr/>
        </p:nvSpPr>
        <p:spPr>
          <a:xfrm>
            <a:off x="4389120" y="2834640"/>
            <a:ext cx="731520" cy="365760"/>
          </a:xfrm>
          <a:prstGeom prst="rect">
            <a:avLst/>
          </a:prstGeom>
          <a:noFill/>
        </p:spPr>
        <p:txBody>
          <a:bodyPr wrap="square">
            <a:spAutoFit/>
          </a:bodyPr>
          <a:lstStyle/>
          <a:p>
            <a:pPr algn="ctr"/>
            <a:r>
              <a:rPr sz="1100" b="0" i="0">
                <a:solidFill>
                  <a:srgbClr val="7D8B97"/>
                </a:solidFill>
              </a:rPr>
              <a:t>POs →</a:t>
            </a:r>
          </a:p>
        </p:txBody>
      </p:sp>
      <p:sp>
        <p:nvSpPr>
          <p:cNvPr id="10" name="TextBox 9"/>
          <p:cNvSpPr txBox="1"/>
          <p:nvPr/>
        </p:nvSpPr>
        <p:spPr>
          <a:xfrm>
            <a:off x="6858000" y="2834640"/>
            <a:ext cx="731520" cy="365760"/>
          </a:xfrm>
          <a:prstGeom prst="rect">
            <a:avLst/>
          </a:prstGeom>
          <a:noFill/>
        </p:spPr>
        <p:txBody>
          <a:bodyPr wrap="square">
            <a:spAutoFit/>
          </a:bodyPr>
          <a:lstStyle/>
          <a:p>
            <a:pPr algn="ctr"/>
            <a:r>
              <a:rPr sz="1100" b="0" i="0">
                <a:solidFill>
                  <a:srgbClr val="7D8B97"/>
                </a:solidFill>
              </a:rPr>
              <a:t>orders →</a:t>
            </a:r>
          </a:p>
        </p:txBody>
      </p:sp>
      <p:sp>
        <p:nvSpPr>
          <p:cNvPr id="11" name="TextBox 10"/>
          <p:cNvSpPr txBox="1"/>
          <p:nvPr/>
        </p:nvSpPr>
        <p:spPr>
          <a:xfrm>
            <a:off x="4389120" y="3749039"/>
            <a:ext cx="822960" cy="320040"/>
          </a:xfrm>
          <a:prstGeom prst="rect">
            <a:avLst/>
          </a:prstGeom>
          <a:noFill/>
        </p:spPr>
        <p:txBody>
          <a:bodyPr wrap="square">
            <a:spAutoFit/>
          </a:bodyPr>
          <a:lstStyle/>
          <a:p>
            <a:pPr algn="ctr"/>
            <a:r>
              <a:rPr sz="1100" b="0" i="0">
                <a:solidFill>
                  <a:srgbClr val="7D8B97"/>
                </a:solidFill>
              </a:rPr>
              <a:t>← printers</a:t>
            </a:r>
          </a:p>
        </p:txBody>
      </p:sp>
      <p:sp>
        <p:nvSpPr>
          <p:cNvPr id="12" name="TextBox 11"/>
          <p:cNvSpPr txBox="1"/>
          <p:nvPr/>
        </p:nvSpPr>
        <p:spPr>
          <a:xfrm>
            <a:off x="6858000" y="3749039"/>
            <a:ext cx="822960" cy="320040"/>
          </a:xfrm>
          <a:prstGeom prst="rect">
            <a:avLst/>
          </a:prstGeom>
          <a:noFill/>
        </p:spPr>
        <p:txBody>
          <a:bodyPr wrap="square">
            <a:spAutoFit/>
          </a:bodyPr>
          <a:lstStyle/>
          <a:p>
            <a:pPr algn="ctr"/>
            <a:r>
              <a:rPr sz="1100" b="0" i="0">
                <a:solidFill>
                  <a:srgbClr val="7D8B97"/>
                </a:solidFill>
              </a:rPr>
              <a:t>← parts</a:t>
            </a:r>
          </a:p>
        </p:txBody>
      </p:sp>
      <p:sp>
        <p:nvSpPr>
          <p:cNvPr id="13" name="Rectangle 12"/>
          <p:cNvSpPr/>
          <p:nvPr/>
        </p:nvSpPr>
        <p:spPr>
          <a:xfrm>
            <a:off x="3931920" y="4754880"/>
            <a:ext cx="4114800" cy="777240"/>
          </a:xfrm>
          <a:prstGeom prst="rect">
            <a:avLst/>
          </a:prstGeom>
          <a:solidFill>
            <a:srgbClr val="161B22"/>
          </a:solidFill>
          <a:ln w="15240">
            <a:solidFill>
              <a:srgbClr val="E3B34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3B341"/>
                </a:solidFill>
              </a:rPr>
              <a:t>Turn Engine · scripts/run_simulation.py</a:t>
            </a:r>
          </a:p>
        </p:txBody>
      </p:sp>
      <p:sp>
        <p:nvSpPr>
          <p:cNvPr id="14" name="Rectangle 13"/>
          <p:cNvSpPr/>
          <p:nvPr/>
        </p:nvSpPr>
        <p:spPr>
          <a:xfrm>
            <a:off x="320040" y="4754880"/>
            <a:ext cx="3108960" cy="777240"/>
          </a:xfrm>
          <a:prstGeom prst="rect">
            <a:avLst/>
          </a:prstGeom>
          <a:solidFill>
            <a:srgbClr val="161B22"/>
          </a:solidFill>
          <a:ln w="15240">
            <a:solidFill>
              <a:srgbClr val="7D8B9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7D8B97"/>
                </a:solidFill>
              </a:rPr>
              <a:t>Scenario signals
demand · supply · lead time</a:t>
            </a:r>
          </a:p>
        </p:txBody>
      </p:sp>
      <p:sp>
        <p:nvSpPr>
          <p:cNvPr id="15" name="TextBox 14"/>
          <p:cNvSpPr txBox="1"/>
          <p:nvPr/>
        </p:nvSpPr>
        <p:spPr>
          <a:xfrm>
            <a:off x="502920" y="5760720"/>
            <a:ext cx="11155680" cy="731520"/>
          </a:xfrm>
          <a:prstGeom prst="rect">
            <a:avLst/>
          </a:prstGeom>
          <a:noFill/>
        </p:spPr>
        <p:txBody>
          <a:bodyPr wrap="square">
            <a:spAutoFit/>
          </a:bodyPr>
          <a:lstStyle/>
          <a:p>
            <a:pPr algn="l"/>
            <a:r>
              <a:rPr sz="1300" b="0" i="1">
                <a:solidFill>
                  <a:srgbClr val="7D8B97"/>
                </a:solidFill>
              </a:rPr>
              <a:t>Each app owns its own SQLite DB and exposes REST endpoints. The engine advances time, injects demand, and orchestrates all services in lock-step.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Turn Design — One Simulated Day</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6858000" cy="5303520"/>
          </a:xfrm>
          <a:prstGeom prst="rect">
            <a:avLst/>
          </a:prstGeom>
          <a:noFill/>
        </p:spPr>
        <p:txBody>
          <a:bodyPr wrap="square">
            <a:spAutoFit/>
          </a:bodyPr>
          <a:lstStyle/>
          <a:p>
            <a:pPr>
              <a:spcBef>
                <a:spcPts val="800"/>
              </a:spcBef>
            </a:pPr>
            <a:r>
              <a:rPr sz="1600" b="1">
                <a:solidFill>
                  <a:srgbClr val="58A6FF"/>
                </a:solidFill>
              </a:rPr>
              <a:t>  1.  </a:t>
            </a:r>
            <a:r>
              <a:rPr sz="1600">
                <a:solidFill>
                  <a:srgbClr val="B0BECC"/>
                </a:solidFill>
              </a:rPr>
              <a:t>Read scenario signal for the day</a:t>
            </a:r>
          </a:p>
          <a:p>
            <a:pPr>
              <a:spcBef>
                <a:spcPts val="800"/>
              </a:spcBef>
            </a:pPr>
            <a:r>
              <a:rPr sz="1600" b="1">
                <a:solidFill>
                  <a:srgbClr val="58A6FF"/>
                </a:solidFill>
              </a:rPr>
              <a:t>  2.  </a:t>
            </a:r>
            <a:r>
              <a:rPr sz="1600">
                <a:solidFill>
                  <a:srgbClr val="B0BECC"/>
                </a:solidFill>
              </a:rPr>
              <a:t>Inject customer demand into the retailer</a:t>
            </a:r>
          </a:p>
          <a:p>
            <a:pPr>
              <a:spcBef>
                <a:spcPts val="800"/>
              </a:spcBef>
            </a:pPr>
            <a:r>
              <a:rPr sz="1600" b="1">
                <a:solidFill>
                  <a:srgbClr val="58A6FF"/>
                </a:solidFill>
              </a:rPr>
              <a:t>  3.  </a:t>
            </a:r>
            <a:r>
              <a:rPr sz="1600">
                <a:solidFill>
                  <a:srgbClr val="B0BECC"/>
                </a:solidFill>
              </a:rPr>
              <a:t>Provider reacts to stock pressure and supply conditions</a:t>
            </a:r>
          </a:p>
          <a:p>
            <a:pPr>
              <a:spcBef>
                <a:spcPts val="800"/>
              </a:spcBef>
            </a:pPr>
            <a:r>
              <a:rPr sz="1600" b="1">
                <a:solidFill>
                  <a:srgbClr val="58A6FF"/>
                </a:solidFill>
              </a:rPr>
              <a:t>  4.  </a:t>
            </a:r>
            <a:r>
              <a:rPr sz="1600">
                <a:solidFill>
                  <a:srgbClr val="B0BECC"/>
                </a:solidFill>
              </a:rPr>
              <a:t>Manufacturer releases orders, buys parts, adjusts wholesale prices</a:t>
            </a:r>
          </a:p>
          <a:p>
            <a:pPr>
              <a:spcBef>
                <a:spcPts val="800"/>
              </a:spcBef>
            </a:pPr>
            <a:r>
              <a:rPr sz="1600" b="1">
                <a:solidFill>
                  <a:srgbClr val="58A6FF"/>
                </a:solidFill>
              </a:rPr>
              <a:t>  5.  </a:t>
            </a:r>
            <a:r>
              <a:rPr sz="1600">
                <a:solidFill>
                  <a:srgbClr val="B0BECC"/>
                </a:solidFill>
              </a:rPr>
              <a:t>Retailer processes customers and buys printers</a:t>
            </a:r>
          </a:p>
          <a:p>
            <a:pPr>
              <a:spcBef>
                <a:spcPts val="800"/>
              </a:spcBef>
            </a:pPr>
            <a:r>
              <a:rPr sz="1600" b="1">
                <a:solidFill>
                  <a:srgbClr val="58A6FF"/>
                </a:solidFill>
              </a:rPr>
              <a:t>  6.  </a:t>
            </a:r>
            <a:r>
              <a:rPr sz="1600">
                <a:solidFill>
                  <a:srgbClr val="B0BECC"/>
                </a:solidFill>
              </a:rPr>
              <a:t>All three apps advance one day</a:t>
            </a:r>
          </a:p>
          <a:p>
            <a:pPr>
              <a:spcBef>
                <a:spcPts val="800"/>
              </a:spcBef>
            </a:pPr>
            <a:r>
              <a:rPr sz="1600" b="1">
                <a:solidFill>
                  <a:srgbClr val="58A6FF"/>
                </a:solidFill>
              </a:rPr>
              <a:t>  7.  </a:t>
            </a:r>
            <a:r>
              <a:rPr sz="1600">
                <a:solidFill>
                  <a:srgbClr val="B0BECC"/>
                </a:solidFill>
              </a:rPr>
              <a:t>Narrative log and metrics are saved</a:t>
            </a:r>
          </a:p>
        </p:txBody>
      </p:sp>
      <p:sp>
        <p:nvSpPr>
          <p:cNvPr id="5" name="Rectangle 4"/>
          <p:cNvSpPr/>
          <p:nvPr/>
        </p:nvSpPr>
        <p:spPr>
          <a:xfrm>
            <a:off x="7680960" y="1051560"/>
            <a:ext cx="4023360" cy="3840480"/>
          </a:xfrm>
          <a:prstGeom prst="rect">
            <a:avLst/>
          </a:prstGeom>
          <a:solidFill>
            <a:srgbClr val="161B22"/>
          </a:solidFill>
          <a:ln w="1524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r>
              <a:rPr sz="1600" b="1">
                <a:solidFill>
                  <a:srgbClr val="58A6FF"/>
                </a:solidFill>
              </a:rPr>
              <a:t>Why this order?</a:t>
            </a:r>
          </a:p>
          <a:p>
            <a:pPr>
              <a:spcBef>
                <a:spcPts val="1000"/>
              </a:spcBef>
            </a:pPr>
            <a:r>
              <a:rPr sz="1400">
                <a:solidFill>
                  <a:srgbClr val="B0BECC"/>
                </a:solidFill>
              </a:rPr>
              <a:t>The upstream provider acts before the manufacturer places new pressure, then the manufacturer reacts to retail demand, and the retailer closes the loop with customers.
This order avoids stale-read race conditions between agents.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Agent Design: Provider</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60120"/>
            <a:ext cx="3657600" cy="320040"/>
          </a:xfrm>
          <a:prstGeom prst="rect">
            <a:avLst/>
          </a:prstGeom>
          <a:noFill/>
        </p:spPr>
        <p:txBody>
          <a:bodyPr wrap="square">
            <a:spAutoFit/>
          </a:bodyPr>
          <a:lstStyle/>
          <a:p>
            <a:pPr algn="l"/>
            <a:r>
              <a:rPr sz="1300" b="1" i="0">
                <a:solidFill>
                  <a:srgbClr val="3FB950"/>
                </a:solidFill>
              </a:rPr>
              <a:t>ChipSupply Co · :8001</a:t>
            </a:r>
          </a:p>
        </p:txBody>
      </p:sp>
      <p:sp>
        <p:nvSpPr>
          <p:cNvPr id="5" name="TextBox 4"/>
          <p:cNvSpPr txBox="1"/>
          <p:nvPr/>
        </p:nvSpPr>
        <p:spPr>
          <a:xfrm>
            <a:off x="502920" y="1298448"/>
            <a:ext cx="11155680" cy="457200"/>
          </a:xfrm>
          <a:prstGeom prst="rect">
            <a:avLst/>
          </a:prstGeom>
          <a:noFill/>
        </p:spPr>
        <p:txBody>
          <a:bodyPr wrap="square">
            <a:spAutoFit/>
          </a:bodyPr>
          <a:lstStyle/>
          <a:p>
            <a:pPr algn="l"/>
            <a:r>
              <a:rPr sz="1500" b="0" i="1">
                <a:solidFill>
                  <a:srgbClr val="B0BECC"/>
                </a:solidFill>
              </a:rPr>
              <a:t>Keep parts available while adjusting prices under supply pressure.</a:t>
            </a:r>
          </a:p>
        </p:txBody>
      </p:sp>
      <p:sp>
        <p:nvSpPr>
          <p:cNvPr id="6" name="TextBox 5"/>
          <p:cNvSpPr txBox="1"/>
          <p:nvPr/>
        </p:nvSpPr>
        <p:spPr>
          <a:xfrm>
            <a:off x="502920" y="1874519"/>
            <a:ext cx="3566160" cy="384048"/>
          </a:xfrm>
          <a:prstGeom prst="rect">
            <a:avLst/>
          </a:prstGeom>
          <a:noFill/>
        </p:spPr>
        <p:txBody>
          <a:bodyPr wrap="square">
            <a:spAutoFit/>
          </a:bodyPr>
          <a:lstStyle/>
          <a:p>
            <a:pPr algn="l"/>
            <a:r>
              <a:rPr sz="1500" b="1" i="0">
                <a:solidFill>
                  <a:srgbClr val="3FB950"/>
                </a:solidFill>
              </a:rPr>
              <a:t>Inputs</a:t>
            </a:r>
          </a:p>
        </p:txBody>
      </p:sp>
      <p:sp>
        <p:nvSpPr>
          <p:cNvPr id="7" name="TextBox 6"/>
          <p:cNvSpPr txBox="1"/>
          <p:nvPr/>
        </p:nvSpPr>
        <p:spPr>
          <a:xfrm>
            <a:off x="502920" y="2286000"/>
            <a:ext cx="3566160" cy="4206240"/>
          </a:xfrm>
          <a:prstGeom prst="rect">
            <a:avLst/>
          </a:prstGeom>
          <a:noFill/>
        </p:spPr>
        <p:txBody>
          <a:bodyPr wrap="square">
            <a:spAutoFit/>
          </a:bodyPr>
          <a:lstStyle/>
          <a:p>
            <a:pPr>
              <a:spcBef>
                <a:spcPts val="600"/>
              </a:spcBef>
            </a:pPr>
            <a:r>
              <a:rPr sz="1400">
                <a:solidFill>
                  <a:srgbClr val="B0BECC"/>
                </a:solidFill>
              </a:rPr>
              <a:t>• Current stock vs starting stock</a:t>
            </a:r>
          </a:p>
          <a:p>
            <a:pPr>
              <a:spcBef>
                <a:spcPts val="600"/>
              </a:spcBef>
            </a:pPr>
            <a:r>
              <a:rPr sz="1400">
                <a:solidFill>
                  <a:srgbClr val="B0BECC"/>
                </a:solidFill>
              </a:rPr>
              <a:t>• Open manufacturer orders</a:t>
            </a:r>
          </a:p>
          <a:p>
            <a:pPr>
              <a:spcBef>
                <a:spcPts val="600"/>
              </a:spcBef>
            </a:pPr>
            <a:r>
              <a:rPr sz="1400">
                <a:solidFill>
                  <a:srgbClr val="B0BECC"/>
                </a:solidFill>
              </a:rPr>
              <a:t>• Product price tiers</a:t>
            </a:r>
          </a:p>
          <a:p>
            <a:pPr>
              <a:spcBef>
                <a:spcPts val="600"/>
              </a:spcBef>
            </a:pPr>
            <a:r>
              <a:rPr sz="1400">
                <a:solidFill>
                  <a:srgbClr val="B0BECC"/>
                </a:solidFill>
              </a:rPr>
              <a:t>• Market signal: supply_modifier,
lead_time_modifier, demand_modifier</a:t>
            </a:r>
          </a:p>
        </p:txBody>
      </p:sp>
      <p:sp>
        <p:nvSpPr>
          <p:cNvPr id="8" name="TextBox 7"/>
          <p:cNvSpPr txBox="1"/>
          <p:nvPr/>
        </p:nvSpPr>
        <p:spPr>
          <a:xfrm>
            <a:off x="4297680" y="1874519"/>
            <a:ext cx="3566160" cy="384048"/>
          </a:xfrm>
          <a:prstGeom prst="rect">
            <a:avLst/>
          </a:prstGeom>
          <a:noFill/>
        </p:spPr>
        <p:txBody>
          <a:bodyPr wrap="square">
            <a:spAutoFit/>
          </a:bodyPr>
          <a:lstStyle/>
          <a:p>
            <a:pPr algn="l"/>
            <a:r>
              <a:rPr sz="1500" b="1" i="0">
                <a:solidFill>
                  <a:srgbClr val="58A6FF"/>
                </a:solidFill>
              </a:rPr>
              <a:t>Actions</a:t>
            </a:r>
          </a:p>
        </p:txBody>
      </p:sp>
      <p:sp>
        <p:nvSpPr>
          <p:cNvPr id="9" name="TextBox 8"/>
          <p:cNvSpPr txBox="1"/>
          <p:nvPr/>
        </p:nvSpPr>
        <p:spPr>
          <a:xfrm>
            <a:off x="4297680" y="2286000"/>
            <a:ext cx="3566160" cy="4206240"/>
          </a:xfrm>
          <a:prstGeom prst="rect">
            <a:avLst/>
          </a:prstGeom>
          <a:noFill/>
        </p:spPr>
        <p:txBody>
          <a:bodyPr wrap="square">
            <a:spAutoFit/>
          </a:bodyPr>
          <a:lstStyle/>
          <a:p>
            <a:pPr>
              <a:spcBef>
                <a:spcPts val="600"/>
              </a:spcBef>
            </a:pPr>
            <a:r>
              <a:rPr sz="1400">
                <a:solidFill>
                  <a:srgbClr val="B0BECC"/>
                </a:solidFill>
              </a:rPr>
              <a:t>• Restock products below threshold</a:t>
            </a:r>
          </a:p>
          <a:p>
            <a:pPr>
              <a:spcBef>
                <a:spcPts val="600"/>
              </a:spcBef>
            </a:pPr>
            <a:r>
              <a:rPr sz="1400">
                <a:solidFill>
                  <a:srgbClr val="B0BECC"/>
                </a:solidFill>
              </a:rPr>
              <a:t>• Raise prices during supply shortage</a:t>
            </a:r>
          </a:p>
          <a:p>
            <a:pPr>
              <a:spcBef>
                <a:spcPts val="600"/>
              </a:spcBef>
            </a:pPr>
            <a:r>
              <a:rPr sz="1400">
                <a:solidFill>
                  <a:srgbClr val="B0BECC"/>
                </a:solidFill>
              </a:rPr>
              <a:t>• Avoid stockouts on critical parts when possible</a:t>
            </a:r>
          </a:p>
        </p:txBody>
      </p:sp>
      <p:sp>
        <p:nvSpPr>
          <p:cNvPr id="10" name="TextBox 9"/>
          <p:cNvSpPr txBox="1"/>
          <p:nvPr/>
        </p:nvSpPr>
        <p:spPr>
          <a:xfrm>
            <a:off x="8092440" y="1874519"/>
            <a:ext cx="3566160" cy="384048"/>
          </a:xfrm>
          <a:prstGeom prst="rect">
            <a:avLst/>
          </a:prstGeom>
          <a:noFill/>
        </p:spPr>
        <p:txBody>
          <a:bodyPr wrap="square">
            <a:spAutoFit/>
          </a:bodyPr>
          <a:lstStyle/>
          <a:p>
            <a:pPr algn="l"/>
            <a:r>
              <a:rPr sz="1500" b="1" i="0">
                <a:solidFill>
                  <a:srgbClr val="E3B341"/>
                </a:solidFill>
              </a:rPr>
              <a:t>Design choice</a:t>
            </a:r>
          </a:p>
        </p:txBody>
      </p:sp>
      <p:sp>
        <p:nvSpPr>
          <p:cNvPr id="11" name="TextBox 10"/>
          <p:cNvSpPr txBox="1"/>
          <p:nvPr/>
        </p:nvSpPr>
        <p:spPr>
          <a:xfrm>
            <a:off x="8092440" y="2286000"/>
            <a:ext cx="3566160" cy="4206240"/>
          </a:xfrm>
          <a:prstGeom prst="rect">
            <a:avLst/>
          </a:prstGeom>
          <a:noFill/>
        </p:spPr>
        <p:txBody>
          <a:bodyPr wrap="square">
            <a:spAutoFit/>
          </a:bodyPr>
          <a:lstStyle/>
          <a:p>
            <a:pPr>
              <a:spcBef>
                <a:spcPts val="600"/>
              </a:spcBef>
            </a:pPr>
            <a:r>
              <a:rPr sz="1400">
                <a:solidFill>
                  <a:srgbClr val="B0BECC"/>
                </a:solidFill>
              </a:rPr>
              <a:t>• Prompt now provides RESTOCK
flags and ready-to-run action hints</a:t>
            </a:r>
          </a:p>
          <a:p>
            <a:pPr>
              <a:spcBef>
                <a:spcPts val="600"/>
              </a:spcBef>
            </a:pPr>
            <a:r>
              <a:rPr sz="1400">
                <a:solidFill>
                  <a:srgbClr val="B0BECC"/>
                </a:solidFill>
              </a:rPr>
              <a:t>• Agent skips catalog/stock analysis</a:t>
            </a:r>
          </a:p>
          <a:p>
            <a:pPr>
              <a:spcBef>
                <a:spcPts val="600"/>
              </a:spcBef>
            </a:pPr>
            <a:r>
              <a:rPr sz="1400">
                <a:solidFill>
                  <a:srgbClr val="B0BECC"/>
                </a:solidFill>
              </a:rPr>
              <a:t>• Faster decisions, fewer wasted
reasoning turns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Agent Design: Manufacturer</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60120"/>
            <a:ext cx="3657600" cy="320040"/>
          </a:xfrm>
          <a:prstGeom prst="rect">
            <a:avLst/>
          </a:prstGeom>
          <a:noFill/>
        </p:spPr>
        <p:txBody>
          <a:bodyPr wrap="square">
            <a:spAutoFit/>
          </a:bodyPr>
          <a:lstStyle/>
          <a:p>
            <a:pPr algn="l"/>
            <a:r>
              <a:rPr sz="1300" b="1" i="0">
                <a:solidFill>
                  <a:srgbClr val="58A6FF"/>
                </a:solidFill>
              </a:rPr>
              <a:t>Factory · :8002</a:t>
            </a:r>
          </a:p>
        </p:txBody>
      </p:sp>
      <p:sp>
        <p:nvSpPr>
          <p:cNvPr id="5" name="TextBox 4"/>
          <p:cNvSpPr txBox="1"/>
          <p:nvPr/>
        </p:nvSpPr>
        <p:spPr>
          <a:xfrm>
            <a:off x="502920" y="1298448"/>
            <a:ext cx="11155680" cy="457200"/>
          </a:xfrm>
          <a:prstGeom prst="rect">
            <a:avLst/>
          </a:prstGeom>
          <a:noFill/>
        </p:spPr>
        <p:txBody>
          <a:bodyPr wrap="square">
            <a:spAutoFit/>
          </a:bodyPr>
          <a:lstStyle/>
          <a:p>
            <a:pPr algn="l"/>
            <a:r>
              <a:rPr sz="1500" b="0" i="1">
                <a:solidFill>
                  <a:srgbClr val="B0BECC"/>
                </a:solidFill>
              </a:rPr>
              <a:t>Convert retail purchase orders into finished printers.</a:t>
            </a:r>
          </a:p>
        </p:txBody>
      </p:sp>
      <p:sp>
        <p:nvSpPr>
          <p:cNvPr id="6" name="TextBox 5"/>
          <p:cNvSpPr txBox="1"/>
          <p:nvPr/>
        </p:nvSpPr>
        <p:spPr>
          <a:xfrm>
            <a:off x="502920" y="1874519"/>
            <a:ext cx="3566160" cy="384048"/>
          </a:xfrm>
          <a:prstGeom prst="rect">
            <a:avLst/>
          </a:prstGeom>
          <a:noFill/>
        </p:spPr>
        <p:txBody>
          <a:bodyPr wrap="square">
            <a:spAutoFit/>
          </a:bodyPr>
          <a:lstStyle/>
          <a:p>
            <a:pPr algn="l"/>
            <a:r>
              <a:rPr sz="1500" b="1" i="0">
                <a:solidFill>
                  <a:srgbClr val="3FB950"/>
                </a:solidFill>
              </a:rPr>
              <a:t>Inputs</a:t>
            </a:r>
          </a:p>
        </p:txBody>
      </p:sp>
      <p:sp>
        <p:nvSpPr>
          <p:cNvPr id="7" name="TextBox 6"/>
          <p:cNvSpPr txBox="1"/>
          <p:nvPr/>
        </p:nvSpPr>
        <p:spPr>
          <a:xfrm>
            <a:off x="502920" y="2286000"/>
            <a:ext cx="3566160" cy="4206240"/>
          </a:xfrm>
          <a:prstGeom prst="rect">
            <a:avLst/>
          </a:prstGeom>
          <a:noFill/>
        </p:spPr>
        <p:txBody>
          <a:bodyPr wrap="square">
            <a:spAutoFit/>
          </a:bodyPr>
          <a:lstStyle/>
          <a:p>
            <a:pPr>
              <a:spcBef>
                <a:spcPts val="600"/>
              </a:spcBef>
            </a:pPr>
            <a:r>
              <a:rPr sz="1400">
                <a:solidFill>
                  <a:srgbClr val="B0BECC"/>
                </a:solidFill>
              </a:rPr>
              <a:t>• Retail sales orders</a:t>
            </a:r>
          </a:p>
          <a:p>
            <a:pPr>
              <a:spcBef>
                <a:spcPts val="600"/>
              </a:spcBef>
            </a:pPr>
            <a:r>
              <a:rPr sz="1400">
                <a:solidFill>
                  <a:srgbClr val="B0BECC"/>
                </a:solidFill>
              </a:rPr>
              <a:t>• Raw-parts stock</a:t>
            </a:r>
          </a:p>
          <a:p>
            <a:pPr>
              <a:spcBef>
                <a:spcPts val="600"/>
              </a:spcBef>
            </a:pPr>
            <a:r>
              <a:rPr sz="1400">
                <a:solidFill>
                  <a:srgbClr val="B0BECC"/>
                </a:solidFill>
              </a:rPr>
              <a:t>• Finished-printer stock</a:t>
            </a:r>
          </a:p>
          <a:p>
            <a:pPr>
              <a:spcBef>
                <a:spcPts val="600"/>
              </a:spcBef>
            </a:pPr>
            <a:r>
              <a:rPr sz="1400">
                <a:solidFill>
                  <a:srgbClr val="B0BECC"/>
                </a:solidFill>
              </a:rPr>
              <a:t>• Supplier catalog</a:t>
            </a:r>
          </a:p>
          <a:p>
            <a:pPr>
              <a:spcBef>
                <a:spcPts val="600"/>
              </a:spcBef>
            </a:pPr>
            <a:r>
              <a:rPr sz="1400">
                <a:solidFill>
                  <a:srgbClr val="B0BECC"/>
                </a:solidFill>
              </a:rPr>
              <a:t>• Open part purchase orders</a:t>
            </a:r>
          </a:p>
          <a:p>
            <a:pPr>
              <a:spcBef>
                <a:spcPts val="600"/>
              </a:spcBef>
            </a:pPr>
            <a:r>
              <a:rPr sz="1400">
                <a:solidFill>
                  <a:srgbClr val="B0BECC"/>
                </a:solidFill>
              </a:rPr>
              <a:t>• BOM per printer model</a:t>
            </a:r>
          </a:p>
        </p:txBody>
      </p:sp>
      <p:sp>
        <p:nvSpPr>
          <p:cNvPr id="8" name="TextBox 7"/>
          <p:cNvSpPr txBox="1"/>
          <p:nvPr/>
        </p:nvSpPr>
        <p:spPr>
          <a:xfrm>
            <a:off x="4297680" y="1874519"/>
            <a:ext cx="3566160" cy="384048"/>
          </a:xfrm>
          <a:prstGeom prst="rect">
            <a:avLst/>
          </a:prstGeom>
          <a:noFill/>
        </p:spPr>
        <p:txBody>
          <a:bodyPr wrap="square">
            <a:spAutoFit/>
          </a:bodyPr>
          <a:lstStyle/>
          <a:p>
            <a:pPr algn="l"/>
            <a:r>
              <a:rPr sz="1500" b="1" i="0">
                <a:solidFill>
                  <a:srgbClr val="58A6FF"/>
                </a:solidFill>
              </a:rPr>
              <a:t>Actions</a:t>
            </a:r>
          </a:p>
        </p:txBody>
      </p:sp>
      <p:sp>
        <p:nvSpPr>
          <p:cNvPr id="9" name="TextBox 8"/>
          <p:cNvSpPr txBox="1"/>
          <p:nvPr/>
        </p:nvSpPr>
        <p:spPr>
          <a:xfrm>
            <a:off x="4297680" y="2286000"/>
            <a:ext cx="3566160" cy="4206240"/>
          </a:xfrm>
          <a:prstGeom prst="rect">
            <a:avLst/>
          </a:prstGeom>
          <a:noFill/>
        </p:spPr>
        <p:txBody>
          <a:bodyPr wrap="square">
            <a:spAutoFit/>
          </a:bodyPr>
          <a:lstStyle/>
          <a:p>
            <a:pPr>
              <a:spcBef>
                <a:spcPts val="600"/>
              </a:spcBef>
            </a:pPr>
            <a:r>
              <a:rPr sz="1400">
                <a:solidFill>
                  <a:srgbClr val="B0BECC"/>
                </a:solidFill>
              </a:rPr>
              <a:t>• Release pending sales orders
to production</a:t>
            </a:r>
          </a:p>
          <a:p>
            <a:pPr>
              <a:spcBef>
                <a:spcPts val="600"/>
              </a:spcBef>
            </a:pPr>
            <a:r>
              <a:rPr sz="1400">
                <a:solidFill>
                  <a:srgbClr val="B0BECC"/>
                </a:solidFill>
              </a:rPr>
              <a:t>• Order missing parts from provider</a:t>
            </a:r>
          </a:p>
          <a:p>
            <a:pPr>
              <a:spcBef>
                <a:spcPts val="600"/>
              </a:spcBef>
            </a:pPr>
            <a:r>
              <a:rPr sz="1400">
                <a:solidFill>
                  <a:srgbClr val="B0BECC"/>
                </a:solidFill>
              </a:rPr>
              <a:t>• Raise wholesale prices when
utilisation/backlog is high</a:t>
            </a:r>
          </a:p>
        </p:txBody>
      </p:sp>
      <p:sp>
        <p:nvSpPr>
          <p:cNvPr id="10" name="TextBox 9"/>
          <p:cNvSpPr txBox="1"/>
          <p:nvPr/>
        </p:nvSpPr>
        <p:spPr>
          <a:xfrm>
            <a:off x="8092440" y="1874519"/>
            <a:ext cx="3566160" cy="384048"/>
          </a:xfrm>
          <a:prstGeom prst="rect">
            <a:avLst/>
          </a:prstGeom>
          <a:noFill/>
        </p:spPr>
        <p:txBody>
          <a:bodyPr wrap="square">
            <a:spAutoFit/>
          </a:bodyPr>
          <a:lstStyle/>
          <a:p>
            <a:pPr algn="l"/>
            <a:r>
              <a:rPr sz="1500" b="1" i="0">
                <a:solidFill>
                  <a:srgbClr val="FF7B72"/>
                </a:solidFill>
              </a:rPr>
              <a:t>Important fix</a:t>
            </a:r>
          </a:p>
        </p:txBody>
      </p:sp>
      <p:sp>
        <p:nvSpPr>
          <p:cNvPr id="11" name="TextBox 10"/>
          <p:cNvSpPr txBox="1"/>
          <p:nvPr/>
        </p:nvSpPr>
        <p:spPr>
          <a:xfrm>
            <a:off x="8092440" y="2286000"/>
            <a:ext cx="3566160" cy="4206240"/>
          </a:xfrm>
          <a:prstGeom prst="rect">
            <a:avLst/>
          </a:prstGeom>
          <a:noFill/>
        </p:spPr>
        <p:txBody>
          <a:bodyPr wrap="square">
            <a:spAutoFit/>
          </a:bodyPr>
          <a:lstStyle/>
          <a:p>
            <a:pPr>
              <a:spcBef>
                <a:spcPts val="600"/>
              </a:spcBef>
            </a:pPr>
            <a:r>
              <a:rPr sz="1400">
                <a:solidFill>
                  <a:srgbClr val="B0BECC"/>
                </a:solidFill>
              </a:rPr>
              <a:t>• Buys against backlog + buffer,
not only tiny shortages</a:t>
            </a:r>
          </a:p>
          <a:p>
            <a:pPr>
              <a:spcBef>
                <a:spcPts val="600"/>
              </a:spcBef>
            </a:pPr>
            <a:r>
              <a:rPr sz="1400">
                <a:solidFill>
                  <a:srgbClr val="B0BECC"/>
                </a:solidFill>
              </a:rPr>
              <a:t>• Avoids counting in_progress orders
as new demand (BOM consumed)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Agent Design: Retailer</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60120"/>
            <a:ext cx="3657600" cy="320040"/>
          </a:xfrm>
          <a:prstGeom prst="rect">
            <a:avLst/>
          </a:prstGeom>
          <a:noFill/>
        </p:spPr>
        <p:txBody>
          <a:bodyPr wrap="square">
            <a:spAutoFit/>
          </a:bodyPr>
          <a:lstStyle/>
          <a:p>
            <a:pPr algn="l"/>
            <a:r>
              <a:rPr sz="1300" b="1" i="0">
                <a:solidFill>
                  <a:srgbClr val="FF7B72"/>
                </a:solidFill>
              </a:rPr>
              <a:t>PrinterWorld · :8003</a:t>
            </a:r>
          </a:p>
        </p:txBody>
      </p:sp>
      <p:sp>
        <p:nvSpPr>
          <p:cNvPr id="5" name="TextBox 4"/>
          <p:cNvSpPr txBox="1"/>
          <p:nvPr/>
        </p:nvSpPr>
        <p:spPr>
          <a:xfrm>
            <a:off x="502920" y="1298448"/>
            <a:ext cx="11155680" cy="457200"/>
          </a:xfrm>
          <a:prstGeom prst="rect">
            <a:avLst/>
          </a:prstGeom>
          <a:noFill/>
        </p:spPr>
        <p:txBody>
          <a:bodyPr wrap="square">
            <a:spAutoFit/>
          </a:bodyPr>
          <a:lstStyle/>
          <a:p>
            <a:pPr algn="l"/>
            <a:r>
              <a:rPr sz="1500" b="0" i="1">
                <a:solidFill>
                  <a:srgbClr val="B0BECC"/>
                </a:solidFill>
              </a:rPr>
              <a:t>Serve customer demand and decide how many printers to buy.</a:t>
            </a:r>
          </a:p>
        </p:txBody>
      </p:sp>
      <p:sp>
        <p:nvSpPr>
          <p:cNvPr id="6" name="TextBox 5"/>
          <p:cNvSpPr txBox="1"/>
          <p:nvPr/>
        </p:nvSpPr>
        <p:spPr>
          <a:xfrm>
            <a:off x="502920" y="1874519"/>
            <a:ext cx="3566160" cy="384048"/>
          </a:xfrm>
          <a:prstGeom prst="rect">
            <a:avLst/>
          </a:prstGeom>
          <a:noFill/>
        </p:spPr>
        <p:txBody>
          <a:bodyPr wrap="square">
            <a:spAutoFit/>
          </a:bodyPr>
          <a:lstStyle/>
          <a:p>
            <a:pPr algn="l"/>
            <a:r>
              <a:rPr sz="1500" b="1" i="0">
                <a:solidFill>
                  <a:srgbClr val="3FB950"/>
                </a:solidFill>
              </a:rPr>
              <a:t>Inputs</a:t>
            </a:r>
          </a:p>
        </p:txBody>
      </p:sp>
      <p:sp>
        <p:nvSpPr>
          <p:cNvPr id="7" name="TextBox 6"/>
          <p:cNvSpPr txBox="1"/>
          <p:nvPr/>
        </p:nvSpPr>
        <p:spPr>
          <a:xfrm>
            <a:off x="502920" y="2286000"/>
            <a:ext cx="3566160" cy="4206240"/>
          </a:xfrm>
          <a:prstGeom prst="rect">
            <a:avLst/>
          </a:prstGeom>
          <a:noFill/>
        </p:spPr>
        <p:txBody>
          <a:bodyPr wrap="square">
            <a:spAutoFit/>
          </a:bodyPr>
          <a:lstStyle/>
          <a:p>
            <a:pPr>
              <a:spcBef>
                <a:spcPts val="600"/>
              </a:spcBef>
            </a:pPr>
            <a:r>
              <a:rPr sz="1400">
                <a:solidFill>
                  <a:srgbClr val="B0BECC"/>
                </a:solidFill>
              </a:rPr>
              <a:t>• Customer orders</a:t>
            </a:r>
          </a:p>
          <a:p>
            <a:pPr>
              <a:spcBef>
                <a:spcPts val="600"/>
              </a:spcBef>
            </a:pPr>
            <a:r>
              <a:rPr sz="1400">
                <a:solidFill>
                  <a:srgbClr val="B0BECC"/>
                </a:solidFill>
              </a:rPr>
              <a:t>• Retail stock</a:t>
            </a:r>
          </a:p>
          <a:p>
            <a:pPr>
              <a:spcBef>
                <a:spcPts val="600"/>
              </a:spcBef>
            </a:pPr>
            <a:r>
              <a:rPr sz="1400">
                <a:solidFill>
                  <a:srgbClr val="B0BECC"/>
                </a:solidFill>
              </a:rPr>
              <a:t>• Open purchases from manufacturer</a:t>
            </a:r>
          </a:p>
          <a:p>
            <a:pPr>
              <a:spcBef>
                <a:spcPts val="600"/>
              </a:spcBef>
            </a:pPr>
            <a:r>
              <a:rPr sz="1400">
                <a:solidFill>
                  <a:srgbClr val="B0BECC"/>
                </a:solidFill>
              </a:rPr>
              <a:t>• Wholesale prices</a:t>
            </a:r>
          </a:p>
          <a:p>
            <a:pPr>
              <a:spcBef>
                <a:spcPts val="600"/>
              </a:spcBef>
            </a:pPr>
            <a:r>
              <a:rPr sz="1400">
                <a:solidFill>
                  <a:srgbClr val="B0BECC"/>
                </a:solidFill>
              </a:rPr>
              <a:t>• Demand and price-sensitivity signals</a:t>
            </a:r>
          </a:p>
        </p:txBody>
      </p:sp>
      <p:sp>
        <p:nvSpPr>
          <p:cNvPr id="8" name="TextBox 7"/>
          <p:cNvSpPr txBox="1"/>
          <p:nvPr/>
        </p:nvSpPr>
        <p:spPr>
          <a:xfrm>
            <a:off x="4297680" y="1874519"/>
            <a:ext cx="3566160" cy="384048"/>
          </a:xfrm>
          <a:prstGeom prst="rect">
            <a:avLst/>
          </a:prstGeom>
          <a:noFill/>
        </p:spPr>
        <p:txBody>
          <a:bodyPr wrap="square">
            <a:spAutoFit/>
          </a:bodyPr>
          <a:lstStyle/>
          <a:p>
            <a:pPr algn="l"/>
            <a:r>
              <a:rPr sz="1500" b="1" i="0">
                <a:solidFill>
                  <a:srgbClr val="58A6FF"/>
                </a:solidFill>
              </a:rPr>
              <a:t>Actions</a:t>
            </a:r>
          </a:p>
        </p:txBody>
      </p:sp>
      <p:sp>
        <p:nvSpPr>
          <p:cNvPr id="9" name="TextBox 8"/>
          <p:cNvSpPr txBox="1"/>
          <p:nvPr/>
        </p:nvSpPr>
        <p:spPr>
          <a:xfrm>
            <a:off x="4297680" y="2286000"/>
            <a:ext cx="3566160" cy="4206240"/>
          </a:xfrm>
          <a:prstGeom prst="rect">
            <a:avLst/>
          </a:prstGeom>
          <a:noFill/>
        </p:spPr>
        <p:txBody>
          <a:bodyPr wrap="square">
            <a:spAutoFit/>
          </a:bodyPr>
          <a:lstStyle/>
          <a:p>
            <a:pPr>
              <a:spcBef>
                <a:spcPts val="600"/>
              </a:spcBef>
            </a:pPr>
            <a:r>
              <a:rPr sz="1400">
                <a:solidFill>
                  <a:srgbClr val="B0BECC"/>
                </a:solidFill>
              </a:rPr>
              <a:t>• Process every pending customer order</a:t>
            </a:r>
          </a:p>
          <a:p>
            <a:pPr>
              <a:spcBef>
                <a:spcPts val="600"/>
              </a:spcBef>
            </a:pPr>
            <a:r>
              <a:rPr sz="1400">
                <a:solidFill>
                  <a:srgbClr val="B0BECC"/>
                </a:solidFill>
              </a:rPr>
              <a:t>• Backorder when stock unavailable</a:t>
            </a:r>
          </a:p>
          <a:p>
            <a:pPr>
              <a:spcBef>
                <a:spcPts val="600"/>
              </a:spcBef>
            </a:pPr>
            <a:r>
              <a:rPr sz="1400">
                <a:solidFill>
                  <a:srgbClr val="B0BECC"/>
                </a:solidFill>
              </a:rPr>
              <a:t>• Purchase enough printers to cover
backlog + demand buffer</a:t>
            </a:r>
          </a:p>
          <a:p>
            <a:pPr>
              <a:spcBef>
                <a:spcPts val="600"/>
              </a:spcBef>
            </a:pPr>
            <a:r>
              <a:rPr sz="1400">
                <a:solidFill>
                  <a:srgbClr val="B0BECC"/>
                </a:solidFill>
              </a:rPr>
              <a:t>• Raise retail prices under stock pressure</a:t>
            </a:r>
          </a:p>
        </p:txBody>
      </p:sp>
      <p:sp>
        <p:nvSpPr>
          <p:cNvPr id="10" name="TextBox 9"/>
          <p:cNvSpPr txBox="1"/>
          <p:nvPr/>
        </p:nvSpPr>
        <p:spPr>
          <a:xfrm>
            <a:off x="8092440" y="1874519"/>
            <a:ext cx="3566160" cy="384048"/>
          </a:xfrm>
          <a:prstGeom prst="rect">
            <a:avLst/>
          </a:prstGeom>
          <a:noFill/>
        </p:spPr>
        <p:txBody>
          <a:bodyPr wrap="square">
            <a:spAutoFit/>
          </a:bodyPr>
          <a:lstStyle/>
          <a:p>
            <a:pPr algn="l"/>
            <a:r>
              <a:rPr sz="1500" b="1" i="0">
                <a:solidFill>
                  <a:srgbClr val="E3B341"/>
                </a:solidFill>
              </a:rPr>
              <a:t>Implementation note</a:t>
            </a:r>
          </a:p>
        </p:txBody>
      </p:sp>
      <p:sp>
        <p:nvSpPr>
          <p:cNvPr id="11" name="TextBox 10"/>
          <p:cNvSpPr txBox="1"/>
          <p:nvPr/>
        </p:nvSpPr>
        <p:spPr>
          <a:xfrm>
            <a:off x="8092440" y="2286000"/>
            <a:ext cx="3566160" cy="4206240"/>
          </a:xfrm>
          <a:prstGeom prst="rect">
            <a:avLst/>
          </a:prstGeom>
          <a:noFill/>
        </p:spPr>
        <p:txBody>
          <a:bodyPr wrap="square">
            <a:spAutoFit/>
          </a:bodyPr>
          <a:lstStyle/>
          <a:p>
            <a:pPr>
              <a:spcBef>
                <a:spcPts val="600"/>
              </a:spcBef>
            </a:pPr>
            <a:r>
              <a:rPr sz="1400">
                <a:solidFill>
                  <a:srgbClr val="B0BECC"/>
                </a:solidFill>
              </a:rPr>
              <a:t>• Made deterministic/direct for the
long run</a:t>
            </a:r>
          </a:p>
          <a:p>
            <a:pPr>
              <a:spcBef>
                <a:spcPts val="600"/>
              </a:spcBef>
            </a:pPr>
            <a:r>
              <a:rPr sz="1400">
                <a:solidFill>
                  <a:srgbClr val="B0BECC"/>
                </a:solidFill>
              </a:rPr>
              <a:t>• LLM version hit max turns too often</a:t>
            </a:r>
          </a:p>
          <a:p>
            <a:pPr>
              <a:spcBef>
                <a:spcPts val="600"/>
              </a:spcBef>
            </a:pPr>
            <a:r>
              <a:rPr sz="1400">
                <a:solidFill>
                  <a:srgbClr val="B0BECC"/>
                </a:solidFill>
              </a:rPr>
              <a:t>• Keeps simulation stable and auditable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Scenario: Holiday Rush</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1097280"/>
            <a:ext cx="11155680" cy="960120"/>
          </a:xfrm>
          <a:prstGeom prst="rect">
            <a:avLst/>
          </a:prstGeom>
          <a:solidFill>
            <a:srgbClr val="161B22"/>
          </a:solidFill>
          <a:ln w="1524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r>
              <a:rPr sz="1400" b="1">
                <a:solidFill>
                  <a:srgbClr val="3FB950"/>
                </a:solidFill>
              </a:rPr>
              <a:t>Days 1–7  </a:t>
            </a:r>
            <a:r>
              <a:rPr sz="1500" b="1">
                <a:solidFill>
                  <a:srgbClr val="E6EDF3"/>
                </a:solidFill>
              </a:rPr>
              <a:t>Pre-holiday normal  —  </a:t>
            </a:r>
            <a:r>
              <a:rPr sz="1300">
                <a:solidFill>
                  <a:srgbClr val="B0BECC"/>
                </a:solidFill>
              </a:rPr>
              <a:t>Demand ×1.0 | Supply ×1.0 | Lead time ×1.0 — build buffer stock</a:t>
            </a:r>
          </a:p>
        </p:txBody>
      </p:sp>
      <p:sp>
        <p:nvSpPr>
          <p:cNvPr id="5" name="Rectangle 4"/>
          <p:cNvSpPr/>
          <p:nvPr/>
        </p:nvSpPr>
        <p:spPr>
          <a:xfrm>
            <a:off x="502920" y="2176272"/>
            <a:ext cx="11155680" cy="960120"/>
          </a:xfrm>
          <a:prstGeom prst="rect">
            <a:avLst/>
          </a:prstGeom>
          <a:solidFill>
            <a:srgbClr val="161B22"/>
          </a:solidFill>
          <a:ln w="1524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r>
              <a:rPr sz="1400" b="1">
                <a:solidFill>
                  <a:srgbClr val="58A6FF"/>
                </a:solidFill>
              </a:rPr>
              <a:t>Days 8–12  </a:t>
            </a:r>
            <a:r>
              <a:rPr sz="1500" b="1">
                <a:solidFill>
                  <a:srgbClr val="E6EDF3"/>
                </a:solidFill>
              </a:rPr>
              <a:t>Black Friday  —  </a:t>
            </a:r>
            <a:r>
              <a:rPr sz="1300">
                <a:solidFill>
                  <a:srgbClr val="B0BECC"/>
                </a:solidFill>
              </a:rPr>
              <a:t>Demand ×3.0 | Supply ×1.0 | High price sensitivity</a:t>
            </a:r>
          </a:p>
        </p:txBody>
      </p:sp>
      <p:sp>
        <p:nvSpPr>
          <p:cNvPr id="6" name="Rectangle 5"/>
          <p:cNvSpPr/>
          <p:nvPr/>
        </p:nvSpPr>
        <p:spPr>
          <a:xfrm>
            <a:off x="502920" y="3255263"/>
            <a:ext cx="11155680" cy="960120"/>
          </a:xfrm>
          <a:prstGeom prst="rect">
            <a:avLst/>
          </a:prstGeom>
          <a:solidFill>
            <a:srgbClr val="161B22"/>
          </a:solidFill>
          <a:ln w="15240">
            <a:solidFill>
              <a:srgbClr val="E3B341"/>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r>
              <a:rPr sz="1400" b="1">
                <a:solidFill>
                  <a:srgbClr val="E3B341"/>
                </a:solidFill>
              </a:rPr>
              <a:t>Days 13–20  </a:t>
            </a:r>
            <a:r>
              <a:rPr sz="1500" b="1">
                <a:solidFill>
                  <a:srgbClr val="E6EDF3"/>
                </a:solidFill>
              </a:rPr>
              <a:t>Chip shortage  —  </a:t>
            </a:r>
            <a:r>
              <a:rPr sz="1300">
                <a:solidFill>
                  <a:srgbClr val="B0BECC"/>
                </a:solidFill>
              </a:rPr>
              <a:t>Demand ×1.5 | Supply ×0.4 | Lead time ×2.0 — constrained upstream</a:t>
            </a:r>
          </a:p>
        </p:txBody>
      </p:sp>
      <p:sp>
        <p:nvSpPr>
          <p:cNvPr id="7" name="Rectangle 6"/>
          <p:cNvSpPr/>
          <p:nvPr/>
        </p:nvSpPr>
        <p:spPr>
          <a:xfrm>
            <a:off x="502920" y="4334256"/>
            <a:ext cx="11155680" cy="960120"/>
          </a:xfrm>
          <a:prstGeom prst="rect">
            <a:avLst/>
          </a:prstGeom>
          <a:solidFill>
            <a:srgbClr val="161B22"/>
          </a:solidFill>
          <a:ln w="15240">
            <a:solidFill>
              <a:srgbClr val="FF7B72"/>
            </a:solidFill>
          </a:ln>
        </p:spPr>
        <p:style>
          <a:lnRef idx="1">
            <a:schemeClr val="accent1"/>
          </a:lnRef>
          <a:fillRef idx="3">
            <a:schemeClr val="accent1"/>
          </a:fillRef>
          <a:effectRef idx="2">
            <a:schemeClr val="accent1"/>
          </a:effectRef>
          <a:fontRef idx="minor">
            <a:schemeClr val="lt1"/>
          </a:fontRef>
        </p:style>
        <p:txBody>
          <a:bodyPr rtlCol="0" anchor="ctr" lIns="137160" tIns="109728"/>
          <a:lstStyle/>
          <a:p>
            <a:pPr algn="ctr"/>
            <a:r>
              <a:rPr sz="1400" b="1">
                <a:solidFill>
                  <a:srgbClr val="FF7B72"/>
                </a:solidFill>
              </a:rPr>
              <a:t>Days 18–25  </a:t>
            </a:r>
            <a:r>
              <a:rPr sz="1500" b="1">
                <a:solidFill>
                  <a:srgbClr val="E6EDF3"/>
                </a:solidFill>
              </a:rPr>
              <a:t>Christmas rush  —  </a:t>
            </a:r>
            <a:r>
              <a:rPr sz="1300">
                <a:solidFill>
                  <a:srgbClr val="B0BECC"/>
                </a:solidFill>
              </a:rPr>
              <a:t>Demand ×2.5 | Supply ×0.6 | Lead time ×1.5 — overlaps shortage</a:t>
            </a:r>
          </a:p>
        </p:txBody>
      </p:sp>
      <p:sp>
        <p:nvSpPr>
          <p:cNvPr id="8" name="TextBox 7"/>
          <p:cNvSpPr txBox="1"/>
          <p:nvPr/>
        </p:nvSpPr>
        <p:spPr>
          <a:xfrm>
            <a:off x="502920" y="5532120"/>
            <a:ext cx="11155680" cy="640080"/>
          </a:xfrm>
          <a:prstGeom prst="rect">
            <a:avLst/>
          </a:prstGeom>
          <a:noFill/>
        </p:spPr>
        <p:txBody>
          <a:bodyPr wrap="square">
            <a:spAutoFit/>
          </a:bodyPr>
          <a:lstStyle/>
          <a:p>
            <a:pPr algn="l"/>
            <a:r>
              <a:rPr sz="1400" b="1" i="0">
                <a:solidFill>
                  <a:srgbClr val="FF7B72"/>
                </a:solidFill>
              </a:rPr>
              <a:t>⚠  Days 18–20: Chip shortage + Christmas rush overlap — strongest stress test. Modifiers multiply.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Holiday Rush — Run Observations</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943600" cy="5303520"/>
          </a:xfrm>
          <a:prstGeom prst="rect">
            <a:avLst/>
          </a:prstGeom>
          <a:noFill/>
        </p:spPr>
        <p:txBody>
          <a:bodyPr wrap="square">
            <a:spAutoFit/>
          </a:bodyPr>
          <a:lstStyle/>
          <a:p>
            <a:pPr>
              <a:spcBef>
                <a:spcPts val="500"/>
              </a:spcBef>
            </a:pPr>
            <a:r>
              <a:rPr sz="1400">
                <a:solidFill>
                  <a:srgbClr val="B0BECC"/>
                </a:solidFill>
              </a:rPr>
              <a:t>• Retailer stock reaches zero early and stays under pressure</a:t>
            </a:r>
          </a:p>
          <a:p>
            <a:pPr>
              <a:spcBef>
                <a:spcPts val="500"/>
              </a:spcBef>
            </a:pPr>
            <a:r>
              <a:rPr sz="1400">
                <a:solidFill>
                  <a:srgbClr val="B0BECC"/>
                </a:solidFill>
              </a:rPr>
              <a:t>• Backorders grow rapidly during Black Friday</a:t>
            </a:r>
          </a:p>
          <a:p>
            <a:pPr>
              <a:spcBef>
                <a:spcPts val="500"/>
              </a:spcBef>
            </a:pPr>
            <a:r>
              <a:rPr sz="1400">
                <a:solidFill>
                  <a:srgbClr val="B0BECC"/>
                </a:solidFill>
              </a:rPr>
              <a:t>• Manufacturer backlog high but causally reasonable</a:t>
            </a:r>
          </a:p>
          <a:p>
            <a:pPr>
              <a:spcBef>
                <a:spcPts val="500"/>
              </a:spcBef>
            </a:pPr>
            <a:r>
              <a:rPr sz="1400">
                <a:solidFill>
                  <a:srgbClr val="B0BECC"/>
                </a:solidFill>
              </a:rPr>
              <a:t>• Manufacturer places much larger part orders once demand spikes</a:t>
            </a:r>
          </a:p>
          <a:p>
            <a:pPr>
              <a:spcBef>
                <a:spcPts val="500"/>
              </a:spcBef>
            </a:pPr>
            <a:r>
              <a:rPr sz="1400">
                <a:solidFill>
                  <a:srgbClr val="B0BECC"/>
                </a:solidFill>
              </a:rPr>
              <a:t>• Provider repeatedly restocks kit_piezas back to its initial level (~120 units)</a:t>
            </a:r>
          </a:p>
          <a:p>
            <a:pPr>
              <a:spcBef>
                <a:spcPts val="500"/>
              </a:spcBef>
            </a:pPr>
            <a:r>
              <a:rPr sz="1400">
                <a:solidFill>
                  <a:srgbClr val="B0BECC"/>
                </a:solidFill>
              </a:rPr>
              <a:t>• Prices increase across the chain:</a:t>
            </a:r>
          </a:p>
          <a:p>
            <a:pPr>
              <a:spcBef>
                <a:spcPts val="500"/>
              </a:spcBef>
            </a:pPr>
            <a:r>
              <a:rPr sz="1300">
                <a:solidFill>
                  <a:srgbClr val="7D8B97"/>
                </a:solidFill>
              </a:rPr>
              <a:t>  → Provider raises kit_piezas unit price</a:t>
            </a:r>
          </a:p>
          <a:p>
            <a:pPr>
              <a:spcBef>
                <a:spcPts val="500"/>
              </a:spcBef>
            </a:pPr>
            <a:r>
              <a:rPr sz="1300">
                <a:solidFill>
                  <a:srgbClr val="7D8B97"/>
                </a:solidFill>
              </a:rPr>
              <a:t>  → Provider issues price raise-all during chip shortage</a:t>
            </a:r>
          </a:p>
          <a:p>
            <a:pPr>
              <a:spcBef>
                <a:spcPts val="500"/>
              </a:spcBef>
            </a:pPr>
            <a:r>
              <a:rPr sz="1300">
                <a:solidFill>
                  <a:srgbClr val="7D8B97"/>
                </a:solidFill>
              </a:rPr>
              <a:t>  → Manufacturer raises wholesale price under high utilisation</a:t>
            </a:r>
          </a:p>
        </p:txBody>
      </p:sp>
      <p:pic>
        <p:nvPicPr>
          <p:cNvPr id="5" name="Picture 4" descr="holiday-rush_dashboard.png"/>
          <p:cNvPicPr>
            <a:picLocks noChangeAspect="1"/>
          </p:cNvPicPr>
          <p:nvPr/>
        </p:nvPicPr>
        <p:blipFill>
          <a:blip r:embed="rId2"/>
          <a:stretch>
            <a:fillRect/>
          </a:stretch>
        </p:blipFill>
        <p:spPr>
          <a:xfrm>
            <a:off x="6629400" y="1051560"/>
            <a:ext cx="5120640" cy="5303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Emergent Behaviour — Bullwhip Effect</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6400800" cy="2926080"/>
          </a:xfrm>
          <a:prstGeom prst="rect">
            <a:avLst/>
          </a:prstGeom>
          <a:noFill/>
        </p:spPr>
        <p:txBody>
          <a:bodyPr wrap="square">
            <a:spAutoFit/>
          </a:bodyPr>
          <a:lstStyle/>
          <a:p>
            <a:pPr>
              <a:spcBef>
                <a:spcPts val="1000"/>
              </a:spcBef>
            </a:pPr>
            <a:r>
              <a:rPr sz="1600" b="1">
                <a:solidFill>
                  <a:srgbClr val="FF7B72"/>
                </a:solidFill>
              </a:rPr>
              <a:t>▶ Customer spike: </a:t>
            </a:r>
            <a:r>
              <a:rPr sz="1500">
                <a:solidFill>
                  <a:srgbClr val="B0BECC"/>
                </a:solidFill>
              </a:rPr>
              <a:t>creates retailer backorders</a:t>
            </a:r>
          </a:p>
          <a:p>
            <a:pPr>
              <a:spcBef>
                <a:spcPts val="1000"/>
              </a:spcBef>
            </a:pPr>
            <a:r>
              <a:rPr sz="1600" b="1">
                <a:solidFill>
                  <a:srgbClr val="58A6FF"/>
                </a:solidFill>
              </a:rPr>
              <a:t>▶ Retailer: </a:t>
            </a:r>
            <a:r>
              <a:rPr sz="1500">
                <a:solidFill>
                  <a:srgbClr val="B0BECC"/>
                </a:solidFill>
              </a:rPr>
              <a:t>places larger printer orders</a:t>
            </a:r>
          </a:p>
          <a:p>
            <a:pPr>
              <a:spcBef>
                <a:spcPts val="1000"/>
              </a:spcBef>
            </a:pPr>
            <a:r>
              <a:rPr sz="1600" b="1">
                <a:solidFill>
                  <a:srgbClr val="E3B341"/>
                </a:solidFill>
              </a:rPr>
              <a:t>▶ Manufacturer: </a:t>
            </a:r>
            <a:r>
              <a:rPr sz="1500">
                <a:solidFill>
                  <a:srgbClr val="B0BECC"/>
                </a:solidFill>
              </a:rPr>
              <a:t>creates even larger part orders (BOM expansion)</a:t>
            </a:r>
          </a:p>
          <a:p>
            <a:pPr>
              <a:spcBef>
                <a:spcPts val="1000"/>
              </a:spcBef>
            </a:pPr>
            <a:r>
              <a:rPr sz="1600" b="1">
                <a:solidFill>
                  <a:srgbClr val="3FB950"/>
                </a:solidFill>
              </a:rPr>
              <a:t>▶ Provider: </a:t>
            </a:r>
            <a:r>
              <a:rPr sz="1500">
                <a:solidFill>
                  <a:srgbClr val="B0BECC"/>
                </a:solidFill>
              </a:rPr>
              <a:t>stock depleted and restocked repeatedly</a:t>
            </a:r>
          </a:p>
        </p:txBody>
      </p:sp>
      <p:sp>
        <p:nvSpPr>
          <p:cNvPr id="5" name="TextBox 4"/>
          <p:cNvSpPr txBox="1"/>
          <p:nvPr/>
        </p:nvSpPr>
        <p:spPr>
          <a:xfrm>
            <a:off x="502920" y="4114800"/>
            <a:ext cx="6400800" cy="384048"/>
          </a:xfrm>
          <a:prstGeom prst="rect">
            <a:avLst/>
          </a:prstGeom>
          <a:noFill/>
        </p:spPr>
        <p:txBody>
          <a:bodyPr wrap="square">
            <a:spAutoFit/>
          </a:bodyPr>
          <a:lstStyle/>
          <a:p>
            <a:pPr algn="l"/>
            <a:r>
              <a:rPr sz="1500" b="1" i="0">
                <a:solidFill>
                  <a:srgbClr val="58A6FF"/>
                </a:solidFill>
              </a:rPr>
              <a:t>Unexpected behaviours</a:t>
            </a:r>
          </a:p>
        </p:txBody>
      </p:sp>
      <p:sp>
        <p:nvSpPr>
          <p:cNvPr id="6" name="TextBox 5"/>
          <p:cNvSpPr txBox="1"/>
          <p:nvPr/>
        </p:nvSpPr>
        <p:spPr>
          <a:xfrm>
            <a:off x="502920" y="4572000"/>
            <a:ext cx="6400800" cy="1828800"/>
          </a:xfrm>
          <a:prstGeom prst="rect">
            <a:avLst/>
          </a:prstGeom>
          <a:noFill/>
        </p:spPr>
        <p:txBody>
          <a:bodyPr wrap="square">
            <a:spAutoFit/>
          </a:bodyPr>
          <a:lstStyle/>
          <a:p>
            <a:pPr>
              <a:spcBef>
                <a:spcPts val="500"/>
              </a:spcBef>
            </a:pPr>
            <a:r>
              <a:rPr sz="1300">
                <a:solidFill>
                  <a:srgbClr val="B0BECC"/>
                </a:solidFill>
              </a:rPr>
              <a:t>• kit_piezas keeps returning to ~120 — that is the provider's restock target</a:t>
            </a:r>
          </a:p>
          <a:p>
            <a:pPr>
              <a:spcBef>
                <a:spcPts val="500"/>
              </a:spcBef>
            </a:pPr>
            <a:r>
              <a:rPr sz="1300">
                <a:solidFill>
                  <a:srgbClr val="B0BECC"/>
                </a:solidFill>
              </a:rPr>
              <a:t>• Part orders rejected when provider stock &lt; requested quantity</a:t>
            </a:r>
          </a:p>
          <a:p>
            <a:pPr>
              <a:spcBef>
                <a:spcPts val="500"/>
              </a:spcBef>
            </a:pPr>
            <a:r>
              <a:rPr sz="1300">
                <a:solidFill>
                  <a:srgbClr val="B0BECC"/>
                </a:solidFill>
              </a:rPr>
              <a:t>• Chained CLI commands stop after one rejection — later purchases left unexecuted</a:t>
            </a:r>
          </a:p>
        </p:txBody>
      </p:sp>
      <p:sp>
        <p:nvSpPr>
          <p:cNvPr id="7" name="Rectangle 6"/>
          <p:cNvSpPr/>
          <p:nvPr/>
        </p:nvSpPr>
        <p:spPr>
          <a:xfrm>
            <a:off x="7406640" y="1051560"/>
            <a:ext cx="4297680" cy="5303520"/>
          </a:xfrm>
          <a:prstGeom prst="rect">
            <a:avLst/>
          </a:prstGeom>
          <a:solidFill>
            <a:srgbClr val="161B22"/>
          </a:solidFill>
          <a:ln w="15240">
            <a:solidFill>
              <a:srgbClr val="3FB95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600" b="1">
                <a:solidFill>
                  <a:srgbClr val="3FB950"/>
                </a:solidFill>
              </a:rPr>
              <a:t>Why it matters</a:t>
            </a:r>
          </a:p>
          <a:p>
            <a:pPr>
              <a:spcBef>
                <a:spcPts val="1200"/>
              </a:spcBef>
            </a:pPr>
            <a:r>
              <a:rPr sz="1400">
                <a:solidFill>
                  <a:srgbClr val="B0BECC"/>
                </a:solidFill>
              </a:rPr>
              <a:t>These are features, not bugs.
Emergence is what makes this project interesting — simple local rules interact to produce behaviour that no single agent was programmed for.
The bullwhip effect was named in the 1960s. We reproduced it accidentally. That is exactly the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02920" y="256032"/>
            <a:ext cx="11155680" cy="640080"/>
          </a:xfrm>
          <a:prstGeom prst="rect">
            <a:avLst/>
          </a:prstGeom>
          <a:noFill/>
        </p:spPr>
        <p:txBody>
          <a:bodyPr wrap="none">
            <a:spAutoFit/>
          </a:bodyPr>
          <a:lstStyle/>
          <a:p>
            <a:r>
              <a:rPr sz="3000" b="1">
                <a:solidFill>
                  <a:srgbClr val="58A6FF"/>
                </a:solidFill>
              </a:rPr>
              <a:t>Live Demo + Reflection</a:t>
            </a:r>
          </a:p>
        </p:txBody>
      </p:sp>
      <p:sp>
        <p:nvSpPr>
          <p:cNvPr id="3" name="Rectangle 2"/>
          <p:cNvSpPr/>
          <p:nvPr/>
        </p:nvSpPr>
        <p:spPr>
          <a:xfrm>
            <a:off x="502920" y="896112"/>
            <a:ext cx="11155680" cy="32004"/>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486400" cy="384048"/>
          </a:xfrm>
          <a:prstGeom prst="rect">
            <a:avLst/>
          </a:prstGeom>
          <a:noFill/>
        </p:spPr>
        <p:txBody>
          <a:bodyPr wrap="square">
            <a:spAutoFit/>
          </a:bodyPr>
          <a:lstStyle/>
          <a:p>
            <a:pPr algn="l"/>
            <a:r>
              <a:rPr sz="1500" b="1" i="0">
                <a:solidFill>
                  <a:srgbClr val="58A6FF"/>
                </a:solidFill>
              </a:rPr>
              <a:t>Live Demo Plan</a:t>
            </a:r>
          </a:p>
        </p:txBody>
      </p:sp>
      <p:sp>
        <p:nvSpPr>
          <p:cNvPr id="5" name="TextBox 4"/>
          <p:cNvSpPr txBox="1"/>
          <p:nvPr/>
        </p:nvSpPr>
        <p:spPr>
          <a:xfrm>
            <a:off x="502920" y="1481328"/>
            <a:ext cx="5486400" cy="2560320"/>
          </a:xfrm>
          <a:prstGeom prst="rect">
            <a:avLst/>
          </a:prstGeom>
          <a:noFill/>
        </p:spPr>
        <p:txBody>
          <a:bodyPr wrap="square">
            <a:spAutoFit/>
          </a:bodyPr>
          <a:lstStyle/>
          <a:p>
            <a:pPr>
              <a:spcBef>
                <a:spcPts val="700"/>
              </a:spcBef>
            </a:pPr>
            <a:r>
              <a:rPr sz="1500" b="1">
                <a:solidFill>
                  <a:srgbClr val="58A6FF"/>
                </a:solidFill>
              </a:rPr>
              <a:t>  1.  </a:t>
            </a:r>
            <a:r>
              <a:rPr sz="1500">
                <a:solidFill>
                  <a:srgbClr val="B0BECC"/>
                </a:solidFill>
              </a:rPr>
              <a:t>Reset the system</a:t>
            </a:r>
          </a:p>
          <a:p>
            <a:pPr>
              <a:spcBef>
                <a:spcPts val="700"/>
              </a:spcBef>
            </a:pPr>
            <a:r>
              <a:rPr sz="1500" b="1">
                <a:solidFill>
                  <a:srgbClr val="58A6FF"/>
                </a:solidFill>
              </a:rPr>
              <a:t>  2.  </a:t>
            </a:r>
            <a:r>
              <a:rPr sz="1500">
                <a:solidFill>
                  <a:srgbClr val="B0BECC"/>
                </a:solidFill>
              </a:rPr>
              <a:t>Run 2–3 days of holiday-rush</a:t>
            </a:r>
          </a:p>
          <a:p>
            <a:pPr>
              <a:spcBef>
                <a:spcPts val="700"/>
              </a:spcBef>
            </a:pPr>
            <a:r>
              <a:rPr sz="1500" b="1">
                <a:solidFill>
                  <a:srgbClr val="58A6FF"/>
                </a:solidFill>
              </a:rPr>
              <a:t>  3.  </a:t>
            </a:r>
            <a:r>
              <a:rPr sz="1500">
                <a:solidFill>
                  <a:srgbClr val="B0BECC"/>
                </a:solidFill>
              </a:rPr>
              <a:t>Show the narrative log updating</a:t>
            </a:r>
          </a:p>
          <a:p>
            <a:pPr>
              <a:spcBef>
                <a:spcPts val="700"/>
              </a:spcBef>
            </a:pPr>
            <a:r>
              <a:rPr sz="1500" b="1">
                <a:solidFill>
                  <a:srgbClr val="58A6FF"/>
                </a:solidFill>
              </a:rPr>
              <a:t>  4.  </a:t>
            </a:r>
            <a:r>
              <a:rPr sz="1500">
                <a:solidFill>
                  <a:srgbClr val="B0BECC"/>
                </a:solidFill>
              </a:rPr>
              <a:t>Point out one decision per agent</a:t>
            </a:r>
          </a:p>
          <a:p>
            <a:pPr>
              <a:spcBef>
                <a:spcPts val="700"/>
              </a:spcBef>
            </a:pPr>
            <a:r>
              <a:rPr sz="1500" b="1">
                <a:solidFill>
                  <a:srgbClr val="58A6FF"/>
                </a:solidFill>
              </a:rPr>
              <a:t>  5.  </a:t>
            </a:r>
            <a:r>
              <a:rPr sz="1500">
                <a:solidFill>
                  <a:srgbClr val="B0BECC"/>
                </a:solidFill>
              </a:rPr>
              <a:t>Show one chart from the completed 25-day run</a:t>
            </a:r>
          </a:p>
        </p:txBody>
      </p:sp>
      <p:sp>
        <p:nvSpPr>
          <p:cNvPr id="6" name="TextBox 5"/>
          <p:cNvSpPr txBox="1"/>
          <p:nvPr/>
        </p:nvSpPr>
        <p:spPr>
          <a:xfrm>
            <a:off x="502920" y="4251960"/>
            <a:ext cx="5486400" cy="640080"/>
          </a:xfrm>
          <a:prstGeom prst="rect">
            <a:avLst/>
          </a:prstGeom>
          <a:noFill/>
        </p:spPr>
        <p:txBody>
          <a:bodyPr wrap="square">
            <a:spAutoFit/>
          </a:bodyPr>
          <a:lstStyle/>
          <a:p>
            <a:pPr algn="l"/>
            <a:r>
              <a:rPr sz="1300" b="0" i="1">
                <a:solidFill>
                  <a:srgbClr val="7D8B97"/>
                </a:solidFill>
              </a:rPr>
              <a:t>Backup: if agents stall, use logs/narrative_holiday-rush.md and the saved charts.</a:t>
            </a:r>
          </a:p>
        </p:txBody>
      </p:sp>
      <p:sp>
        <p:nvSpPr>
          <p:cNvPr id="7" name="TextBox 6"/>
          <p:cNvSpPr txBox="1"/>
          <p:nvPr/>
        </p:nvSpPr>
        <p:spPr>
          <a:xfrm>
            <a:off x="6492240" y="1051560"/>
            <a:ext cx="5212080" cy="384048"/>
          </a:xfrm>
          <a:prstGeom prst="rect">
            <a:avLst/>
          </a:prstGeom>
          <a:noFill/>
        </p:spPr>
        <p:txBody>
          <a:bodyPr wrap="square">
            <a:spAutoFit/>
          </a:bodyPr>
          <a:lstStyle/>
          <a:p>
            <a:pPr algn="l"/>
            <a:r>
              <a:rPr sz="1500" b="1" i="0">
                <a:solidFill>
                  <a:srgbClr val="E3B341"/>
                </a:solidFill>
              </a:rPr>
              <a:t>Reflection</a:t>
            </a:r>
          </a:p>
        </p:txBody>
      </p:sp>
      <p:sp>
        <p:nvSpPr>
          <p:cNvPr id="8" name="TextBox 7"/>
          <p:cNvSpPr txBox="1"/>
          <p:nvPr/>
        </p:nvSpPr>
        <p:spPr>
          <a:xfrm>
            <a:off x="6492240" y="1481328"/>
            <a:ext cx="5212080" cy="3291840"/>
          </a:xfrm>
          <a:prstGeom prst="rect">
            <a:avLst/>
          </a:prstGeom>
          <a:noFill/>
        </p:spPr>
        <p:txBody>
          <a:bodyPr wrap="square">
            <a:spAutoFit/>
          </a:bodyPr>
          <a:lstStyle/>
          <a:p>
            <a:pPr>
              <a:spcBef>
                <a:spcPts val="500"/>
              </a:spcBef>
            </a:pPr>
            <a:r>
              <a:rPr sz="1400">
                <a:solidFill>
                  <a:srgbClr val="B0BECC"/>
                </a:solidFill>
              </a:rPr>
              <a:t>• Clear local prompts matter more than long prompts</a:t>
            </a:r>
          </a:p>
          <a:p>
            <a:pPr>
              <a:spcBef>
                <a:spcPts val="500"/>
              </a:spcBef>
            </a:pPr>
            <a:r>
              <a:rPr sz="1400">
                <a:solidFill>
                  <a:srgbClr val="B0BECC"/>
                </a:solidFill>
              </a:rPr>
              <a:t>• Pre-fetching state reduced wasted reasoning turns</a:t>
            </a:r>
          </a:p>
          <a:p>
            <a:pPr>
              <a:spcBef>
                <a:spcPts val="500"/>
              </a:spcBef>
            </a:pPr>
            <a:r>
              <a:rPr sz="1400">
                <a:solidFill>
                  <a:srgbClr val="B0BECC"/>
                </a:solidFill>
              </a:rPr>
              <a:t>• LLMs are useful for strategy; deterministic execution is better for repetitive low-level loops</a:t>
            </a:r>
          </a:p>
          <a:p>
            <a:pPr>
              <a:spcBef>
                <a:spcPts val="500"/>
              </a:spcBef>
            </a:pPr>
            <a:r>
              <a:rPr sz="1400">
                <a:solidFill>
                  <a:srgbClr val="B0BECC"/>
                </a:solidFill>
              </a:rPr>
              <a:t>• Hardest part: observability — without logs, emergent behaviour is impossible to explain</a:t>
            </a:r>
          </a:p>
        </p:txBody>
      </p:sp>
      <p:sp>
        <p:nvSpPr>
          <p:cNvPr id="9" name="TextBox 8"/>
          <p:cNvSpPr txBox="1"/>
          <p:nvPr/>
        </p:nvSpPr>
        <p:spPr>
          <a:xfrm>
            <a:off x="502920" y="5852160"/>
            <a:ext cx="11155680" cy="640080"/>
          </a:xfrm>
          <a:prstGeom prst="rect">
            <a:avLst/>
          </a:prstGeom>
          <a:noFill/>
        </p:spPr>
        <p:txBody>
          <a:bodyPr wrap="square">
            <a:spAutoFit/>
          </a:bodyPr>
          <a:lstStyle/>
          <a:p>
            <a:pPr algn="ctr"/>
            <a:r>
              <a:rPr sz="1400" b="0" i="1">
                <a:solidFill>
                  <a:srgbClr val="7D8B97"/>
                </a:solidFill>
              </a:rPr>
              <a:t>"Deterministic software handles execution. LLMs handle strategy. Well-defined interfaces keep everything auditable and under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